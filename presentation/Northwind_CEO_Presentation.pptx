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595360" y="-182880"/>
            <a:ext cx="3931920" cy="7315200"/>
          </a:xfrm>
          <a:prstGeom prst="roundRect">
            <a:avLst>
              <a:gd name="adj" fmla="val 8000"/>
            </a:avLst>
          </a:prstGeom>
          <a:solidFill>
            <a:srgbClr val="6B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464040" y="502920"/>
            <a:ext cx="2011680" cy="5760720"/>
          </a:xfrm>
          <a:prstGeom prst="roundRect">
            <a:avLst>
              <a:gd name="adj" fmla="val 8000"/>
            </a:avLst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29800" y="914400"/>
            <a:ext cx="1417320" cy="4937760"/>
          </a:xfrm>
          <a:prstGeom prst="roundRect">
            <a:avLst>
              <a:gd name="adj" fmla="val 8000"/>
            </a:avLst>
          </a:prstGeom>
          <a:solidFill>
            <a:srgbClr val="3E0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722376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8C28"/>
                </a:solidFill>
                <a:latin typeface="Aptos"/>
              </a:rPr>
              <a:t>TECHIE ACADEMY  /  CAPSTONE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7680960" cy="1417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Aptos"/>
              </a:rPr>
              <a:t>Northwind Business
Performance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127248"/>
            <a:ext cx="685800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1E6E9"/>
                </a:solidFill>
                <a:latin typeface="Aptos"/>
              </a:rPr>
              <a:t>Turning sales and operations data into clear business priorities.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13232" y="4069080"/>
            <a:ext cx="2212848" cy="0"/>
          </a:xfrm>
          <a:prstGeom prst="line">
            <a:avLst/>
          </a:prstGeom>
          <a:ln w="3810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13232" y="4389120"/>
            <a:ext cx="621792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Yekini Abdulroqeeb Ademola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818888"/>
            <a:ext cx="36576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9C9CE"/>
                </a:solidFill>
                <a:latin typeface="Aptos"/>
              </a:rPr>
              <a:t>Data Analyst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6062472"/>
            <a:ext cx="6217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C9CE"/>
                </a:solidFill>
                <a:latin typeface="Aptos"/>
              </a:rPr>
              <a:t>CEO PRESENTATION  •  10–15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4480560"/>
            <a:ext cx="109728" cy="914400"/>
          </a:xfrm>
          <a:prstGeom prst="roundRect">
            <a:avLst>
              <a:gd name="adj" fmla="val 8000"/>
            </a:avLst>
          </a:prstGeom>
          <a:solidFill>
            <a:srgbClr val="D9C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41280" y="3749040"/>
            <a:ext cx="109728" cy="1645920"/>
          </a:xfrm>
          <a:prstGeom prst="roundRect">
            <a:avLst>
              <a:gd name="adj" fmla="val 8000"/>
            </a:avLst>
          </a:prstGeom>
          <a:solidFill>
            <a:srgbClr val="D9C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424160" y="2926080"/>
            <a:ext cx="109728" cy="2468880"/>
          </a:xfrm>
          <a:prstGeom prst="roundRect">
            <a:avLst>
              <a:gd name="adj" fmla="val 8000"/>
            </a:avLst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607040" y="2194560"/>
            <a:ext cx="109728" cy="3200400"/>
          </a:xfrm>
          <a:prstGeom prst="roundRect">
            <a:avLst>
              <a:gd name="adj" fmla="val 8000"/>
            </a:avLst>
          </a:prstGeom>
          <a:solidFill>
            <a:srgbClr val="D9C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789920" y="1554480"/>
            <a:ext cx="109728" cy="3840480"/>
          </a:xfrm>
          <a:prstGeom prst="roundRect">
            <a:avLst>
              <a:gd name="adj" fmla="val 8000"/>
            </a:avLst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6556248"/>
            <a:ext cx="603504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9C9CE"/>
                </a:solidFill>
                <a:latin typeface="Aptos"/>
              </a:rPr>
              <a:t>NORTHWIND TRADERS  •  CAPSTONE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537960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9C9CE"/>
                </a:solidFill>
                <a:latin typeface="Aptos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8C28"/>
                </a:solidFill>
                <a:latin typeface="Aptos"/>
              </a:rPr>
              <a:t>02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4128" y="448056"/>
            <a:ext cx="329184" cy="0"/>
          </a:xfrm>
          <a:prstGeom prst="line">
            <a:avLst/>
          </a:prstGeom>
          <a:ln w="317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481328" y="237744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22632"/>
                </a:solidFill>
                <a:latin typeface="Aptos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99616" y="722376"/>
            <a:ext cx="99669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8290"/>
                </a:solidFill>
                <a:latin typeface="Aptos"/>
              </a:rPr>
              <a:t>The data points to a strong core business, with clear opportunities to improve visibility and control.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3794760" cy="4526280"/>
          </a:xfrm>
          <a:prstGeom prst="roundRect">
            <a:avLst>
              <a:gd name="adj" fmla="val 8000"/>
            </a:avLst>
          </a:prstGeom>
          <a:solidFill>
            <a:srgbClr val="6B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72768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8C28"/>
                </a:solidFill>
                <a:latin typeface="Aptos"/>
              </a:rPr>
              <a:t>THE HEADLINE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011680"/>
            <a:ext cx="3154680" cy="11155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$1.35M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3063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revenue across 830 orders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3858768"/>
            <a:ext cx="3063240" cy="0"/>
          </a:xfrm>
          <a:prstGeom prst="line">
            <a:avLst/>
          </a:prstGeom>
          <a:ln w="12700">
            <a:solidFill>
              <a:srgbClr val="A85A6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4096512"/>
            <a:ext cx="3017520" cy="10972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1E6E9"/>
                </a:solidFill>
                <a:latin typeface="Aptos"/>
              </a:rPr>
              <a:t>The priority is not just to grow sales. It is to make performance easier to compare, protect valuable customer relationships, and investigate shipping exceptions.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234440"/>
            <a:ext cx="7059168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7720" y="1234440"/>
            <a:ext cx="64008" cy="129844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380744"/>
            <a:ext cx="671169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22632"/>
                </a:solidFill>
                <a:latin typeface="Aptos"/>
              </a:rPr>
              <a:t>01  |  Revenue has clear leaders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1737360"/>
            <a:ext cx="6693407" cy="69494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586070"/>
                </a:solidFill>
                <a:latin typeface="Aptos"/>
              </a:rPr>
              <a:t>Côte de Blaye leads product revenue; Beverages leads category revenue; the USA is the strongest market.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17720" y="2715768"/>
            <a:ext cx="7059168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617720" y="2715768"/>
            <a:ext cx="64008" cy="1298448"/>
          </a:xfrm>
          <a:prstGeom prst="rect">
            <a:avLst/>
          </a:prstGeom>
          <a:solidFill>
            <a:srgbClr val="6B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2862072"/>
            <a:ext cx="671169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22632"/>
                </a:solidFill>
                <a:latin typeface="Aptos"/>
              </a:rPr>
              <a:t>02  |  Different measures tell different stories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218688"/>
            <a:ext cx="6693407" cy="69494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586070"/>
                </a:solidFill>
                <a:latin typeface="Aptos"/>
              </a:rPr>
              <a:t>Camembert Pierrot leads by units, QUICK-Stop leads customer revenue, and Save-a-lot Markets places more orders.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4197096"/>
            <a:ext cx="7059168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17720" y="4197096"/>
            <a:ext cx="64008" cy="1298448"/>
          </a:xfrm>
          <a:prstGeom prst="rect">
            <a:avLst/>
          </a:prstGeom>
          <a:solidFill>
            <a:srgbClr val="2E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4343400"/>
            <a:ext cx="671169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22632"/>
                </a:solidFill>
                <a:latin typeface="Aptos"/>
              </a:rPr>
              <a:t>03  |  Operations are mostly on time—with exceptions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4700016"/>
            <a:ext cx="6693407" cy="69494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586070"/>
                </a:solidFill>
                <a:latin typeface="Aptos"/>
              </a:rPr>
              <a:t>772 orders were shipped on or before the required date; 37 were late and 21 have no recorded shipped date.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89320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7A8290"/>
                </a:solidFill>
                <a:latin typeface="Aptos"/>
              </a:rPr>
              <a:t>Scope: historical Northwind order data, 4 Jul 1996 – 6 May 1998. Findings are descriptive, not proof of causation or profitability.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6556248"/>
            <a:ext cx="603504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A8290"/>
                </a:solidFill>
                <a:latin typeface="Aptos"/>
              </a:rPr>
              <a:t>NORTHWIND TRADERS  •  CAPSTONE PROJECT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537960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A8290"/>
                </a:solidFill>
                <a:latin typeface="Aptos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8C28"/>
                </a:solidFill>
                <a:latin typeface="Aptos"/>
              </a:rPr>
              <a:t>03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4128" y="448056"/>
            <a:ext cx="329184" cy="0"/>
          </a:xfrm>
          <a:prstGeom prst="line">
            <a:avLst/>
          </a:prstGeom>
          <a:ln w="317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481328" y="237744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22632"/>
                </a:solidFill>
                <a:latin typeface="Aptos"/>
              </a:rPr>
              <a:t>Business performance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99616" y="722376"/>
            <a:ext cx="99669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8290"/>
                </a:solidFill>
                <a:latin typeface="Aptos"/>
              </a:rPr>
              <a:t>A compact baseline for the CEO before looking at products, customers, people and operations.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3337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90472"/>
            <a:ext cx="64008" cy="1088136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453895"/>
            <a:ext cx="2916936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22632"/>
                </a:solidFill>
                <a:latin typeface="Aptos"/>
              </a:rPr>
              <a:t>$1.35M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65376"/>
            <a:ext cx="289864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8290"/>
                </a:solidFill>
                <a:latin typeface="Aptos"/>
              </a:rPr>
              <a:t>TOTAL REVENUE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325880"/>
            <a:ext cx="3337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490472"/>
            <a:ext cx="64008" cy="1088136"/>
          </a:xfrm>
          <a:prstGeom prst="rect">
            <a:avLst/>
          </a:prstGeom>
          <a:solidFill>
            <a:srgbClr val="6B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6" y="1453895"/>
            <a:ext cx="2916936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22632"/>
                </a:solidFill>
                <a:latin typeface="Aptos"/>
              </a:rPr>
              <a:t>830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65376"/>
            <a:ext cx="289864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8290"/>
                </a:solidFill>
                <a:latin typeface="Aptos"/>
              </a:rPr>
              <a:t>ORDERS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1325880"/>
            <a:ext cx="3337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490472"/>
            <a:ext cx="64008" cy="1088136"/>
          </a:xfrm>
          <a:prstGeom prst="rect">
            <a:avLst/>
          </a:prstGeom>
          <a:solidFill>
            <a:srgbClr val="2E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0456" y="1453895"/>
            <a:ext cx="2916936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22632"/>
                </a:solidFill>
                <a:latin typeface="Aptos"/>
              </a:rPr>
              <a:t>$1.63K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865376"/>
            <a:ext cx="289864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8290"/>
                </a:solidFill>
                <a:latin typeface="Aptos"/>
              </a:rPr>
              <a:t>AVERAGE ORDER VALUE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246120"/>
            <a:ext cx="3337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410712"/>
            <a:ext cx="64008" cy="1088136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374136"/>
            <a:ext cx="2916936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22632"/>
                </a:solidFill>
                <a:latin typeface="Aptos"/>
              </a:rPr>
              <a:t>93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785615"/>
            <a:ext cx="289864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8290"/>
                </a:solidFill>
                <a:latin typeface="Aptos"/>
              </a:rPr>
              <a:t>CUSTOMERS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246120"/>
            <a:ext cx="3337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410712"/>
            <a:ext cx="64008" cy="1088136"/>
          </a:xfrm>
          <a:prstGeom prst="rect">
            <a:avLst/>
          </a:prstGeom>
          <a:solidFill>
            <a:srgbClr val="6B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2856" y="3374136"/>
            <a:ext cx="2916936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22632"/>
                </a:solidFill>
                <a:latin typeface="Aptos"/>
              </a:rPr>
              <a:t>77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785615"/>
            <a:ext cx="289864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8290"/>
                </a:solidFill>
                <a:latin typeface="Aptos"/>
              </a:rPr>
              <a:t>PRODUCTS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9560" y="3246120"/>
            <a:ext cx="3337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3410712"/>
            <a:ext cx="64008" cy="1088136"/>
          </a:xfrm>
          <a:prstGeom prst="rect">
            <a:avLst/>
          </a:prstGeom>
          <a:solidFill>
            <a:srgbClr val="2E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0456" y="3374136"/>
            <a:ext cx="2916936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22632"/>
                </a:solidFill>
                <a:latin typeface="Aptos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785615"/>
            <a:ext cx="2898648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A8290"/>
                </a:solidFill>
                <a:latin typeface="Aptos"/>
              </a:rPr>
              <a:t>CATEGORIES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074920"/>
            <a:ext cx="106527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266944"/>
            <a:ext cx="18288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28C28"/>
                </a:solidFill>
                <a:latin typeface="Aptos"/>
              </a:rPr>
              <a:t>DATA PERIOD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20" y="5202936"/>
            <a:ext cx="306324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2632"/>
                </a:solidFill>
                <a:latin typeface="Aptos"/>
              </a:rPr>
              <a:t>4 Jul 1996 – 6 May 1998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0" y="5230368"/>
            <a:ext cx="0" cy="512064"/>
          </a:xfrm>
          <a:prstGeom prst="line">
            <a:avLst/>
          </a:prstGeom>
          <a:ln w="12700">
            <a:solidFill>
              <a:srgbClr val="E5D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806440" y="5202936"/>
            <a:ext cx="50292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86070"/>
                </a:solidFill>
                <a:latin typeface="Aptos"/>
              </a:rPr>
              <a:t>1996 and 1998 are partial years—compare equivalent periods, not raw annual totals alone.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" y="6556248"/>
            <a:ext cx="603504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A8290"/>
                </a:solidFill>
                <a:latin typeface="Aptos"/>
              </a:rPr>
              <a:t>NORTHWIND TRADERS  •  CAPSTONE PROJECT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537960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A8290"/>
                </a:solidFill>
                <a:latin typeface="Aptos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8C28"/>
                </a:solidFill>
                <a:latin typeface="Aptos"/>
              </a:rPr>
              <a:t>04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4128" y="448056"/>
            <a:ext cx="329184" cy="0"/>
          </a:xfrm>
          <a:prstGeom prst="line">
            <a:avLst/>
          </a:prstGeom>
          <a:ln w="317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481328" y="237744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22632"/>
                </a:solidFill>
                <a:latin typeface="Aptos"/>
              </a:rPr>
              <a:t>Sales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99616" y="722376"/>
            <a:ext cx="99669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8290"/>
                </a:solidFill>
                <a:latin typeface="Aptos"/>
              </a:rPr>
              <a:t>Revenue changes across the available period; comparisons need to account for incomplete years.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65379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554480"/>
            <a:ext cx="5303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8C28"/>
                </a:solidFill>
                <a:latin typeface="Aptos"/>
              </a:rPr>
              <a:t>REVENUE SIGNALS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43000" y="2788920"/>
            <a:ext cx="5257800" cy="0"/>
          </a:xfrm>
          <a:prstGeom prst="line">
            <a:avLst/>
          </a:prstGeom>
          <a:ln w="38100">
            <a:solidFill>
              <a:srgbClr val="E5D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170431" y="2633472"/>
            <a:ext cx="256032" cy="256032"/>
          </a:xfrm>
          <a:prstGeom prst="roundRect">
            <a:avLst>
              <a:gd name="adj" fmla="val 8000"/>
            </a:avLst>
          </a:prstGeom>
          <a:solidFill>
            <a:srgbClr val="6B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19" y="2148840"/>
            <a:ext cx="1143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B0F2B"/>
                </a:solidFill>
                <a:latin typeface="Aptos"/>
              </a:rPr>
              <a:t>1996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3063240"/>
            <a:ext cx="1645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22632"/>
                </a:solidFill>
                <a:latin typeface="Aptos"/>
              </a:rPr>
              <a:t>Partial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799" y="3429000"/>
            <a:ext cx="17373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6070"/>
                </a:solidFill>
                <a:latin typeface="Aptos"/>
              </a:rPr>
              <a:t>Orders begin 4 July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3591" y="2633472"/>
            <a:ext cx="256032" cy="256032"/>
          </a:xfrm>
          <a:prstGeom prst="roundRect">
            <a:avLst>
              <a:gd name="adj" fmla="val 8000"/>
            </a:avLst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79" y="2148840"/>
            <a:ext cx="1143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28C28"/>
                </a:solidFill>
                <a:latin typeface="Aptos"/>
              </a:rPr>
              <a:t>1997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79" y="3063240"/>
            <a:ext cx="1645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22632"/>
                </a:solidFill>
                <a:latin typeface="Aptos"/>
              </a:rPr>
              <a:t>Highest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429000"/>
            <a:ext cx="17373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6070"/>
                </a:solidFill>
                <a:latin typeface="Aptos"/>
              </a:rPr>
              <a:t>≈ $660K revenue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25312" y="2633472"/>
            <a:ext cx="256032" cy="256032"/>
          </a:xfrm>
          <a:prstGeom prst="roundRect">
            <a:avLst>
              <a:gd name="adj" fmla="val 8000"/>
            </a:avLst>
          </a:prstGeom>
          <a:solidFill>
            <a:srgbClr val="6B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2148840"/>
            <a:ext cx="1143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B0F2B"/>
                </a:solidFill>
                <a:latin typeface="Aptos"/>
              </a:rPr>
              <a:t>1998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063240"/>
            <a:ext cx="1645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22632"/>
                </a:solidFill>
                <a:latin typeface="Aptos"/>
              </a:rPr>
              <a:t>Partial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79" y="3429000"/>
            <a:ext cx="17373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6070"/>
                </a:solidFill>
                <a:latin typeface="Aptos"/>
              </a:rPr>
              <a:t>Data ends 6 May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8680" y="4251960"/>
            <a:ext cx="5852160" cy="0"/>
          </a:xfrm>
          <a:prstGeom prst="line">
            <a:avLst/>
          </a:prstGeom>
          <a:ln w="12700">
            <a:solidFill>
              <a:srgbClr val="E5D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96112" y="4480560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28C28"/>
                </a:solidFill>
                <a:latin typeface="Aptos"/>
              </a:rPr>
              <a:t>MONTHLY 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828032"/>
            <a:ext cx="566928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2632"/>
                </a:solidFill>
                <a:latin typeface="Aptos"/>
              </a:rPr>
              <a:t>April has the highest combined revenue across the April observations in the dataset: approximately $190K.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1280160"/>
            <a:ext cx="42976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0920" y="1280160"/>
            <a:ext cx="64008" cy="13258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43800" y="1426463"/>
            <a:ext cx="395020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22632"/>
                </a:solidFill>
                <a:latin typeface="Aptos"/>
              </a:rPr>
              <a:t>What happened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43800" y="1792224"/>
            <a:ext cx="3931920" cy="7315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86070"/>
                </a:solidFill>
                <a:latin typeface="Aptos"/>
              </a:rPr>
              <a:t>Total revenue is approximately $1.35M across 830 orders.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60920" y="2770632"/>
            <a:ext cx="42976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60920" y="2770632"/>
            <a:ext cx="64008" cy="1325880"/>
          </a:xfrm>
          <a:prstGeom prst="rect">
            <a:avLst/>
          </a:prstGeom>
          <a:solidFill>
            <a:srgbClr val="6B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43800" y="2916936"/>
            <a:ext cx="395020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22632"/>
                </a:solidFill>
                <a:latin typeface="Aptos"/>
              </a:rPr>
              <a:t>Why it matters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43800" y="3282696"/>
            <a:ext cx="3931920" cy="7315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86070"/>
                </a:solidFill>
                <a:latin typeface="Aptos"/>
              </a:rPr>
              <a:t>Demand and order values vary. A peak period deserves investigation, not an assumed cause.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60920" y="4261104"/>
            <a:ext cx="429768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60920" y="4261104"/>
            <a:ext cx="64008" cy="1325880"/>
          </a:xfrm>
          <a:prstGeom prst="rect">
            <a:avLst/>
          </a:prstGeom>
          <a:solidFill>
            <a:srgbClr val="2E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43800" y="4407408"/>
            <a:ext cx="395020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22632"/>
                </a:solidFill>
                <a:latin typeface="Aptos"/>
              </a:rPr>
              <a:t>What to 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4773168"/>
            <a:ext cx="3931920" cy="731519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86070"/>
                </a:solidFill>
                <a:latin typeface="Aptos"/>
              </a:rPr>
              <a:t>Track revenue, order count and average order value monthly; compare like-for-like periods.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989320"/>
            <a:ext cx="10972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7A8290"/>
                </a:solidFill>
                <a:latin typeface="Aptos"/>
              </a:rPr>
              <a:t>Reporting caveat: the month chart aggregates the same calendar month across years; annual totals cover different lengths of time.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" y="6556248"/>
            <a:ext cx="603504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A8290"/>
                </a:solidFill>
                <a:latin typeface="Aptos"/>
              </a:rPr>
              <a:t>NORTHWIND TRADERS  •  CAPSTONE PROJECT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537960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A8290"/>
                </a:solidFill>
                <a:latin typeface="Aptos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8C28"/>
                </a:solidFill>
                <a:latin typeface="Aptos"/>
              </a:rPr>
              <a:t>05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4128" y="448056"/>
            <a:ext cx="329184" cy="0"/>
          </a:xfrm>
          <a:prstGeom prst="line">
            <a:avLst/>
          </a:prstGeom>
          <a:ln w="317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481328" y="237744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22632"/>
                </a:solidFill>
                <a:latin typeface="Aptos"/>
              </a:rPr>
              <a:t>Product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99616" y="722376"/>
            <a:ext cx="99669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8290"/>
                </a:solidFill>
                <a:latin typeface="Aptos"/>
              </a:rPr>
              <a:t>Revenue, volume, category mix and inventory are complementary views—not interchangeable measures.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6B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28C28"/>
                </a:solidFill>
                <a:latin typeface="Aptos"/>
              </a:rPr>
              <a:t>HIGHEST-REVENUE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38528"/>
            <a:ext cx="29260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ptos"/>
              </a:rPr>
              <a:t>Côte de Blaye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2880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≈ $150K in 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71216"/>
            <a:ext cx="2743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9C9CE"/>
                </a:solidFill>
                <a:latin typeface="Aptos"/>
              </a:rPr>
              <a:t>Revenue leader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298448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28C28"/>
                </a:solidFill>
                <a:latin typeface="Aptos"/>
              </a:rPr>
              <a:t>HIGHEST-QUANTITY PRODUCT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938528"/>
            <a:ext cx="29260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22632"/>
                </a:solidFill>
                <a:latin typeface="Aptos"/>
              </a:rPr>
              <a:t>Camembert Pierrot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468880"/>
            <a:ext cx="28346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2632"/>
                </a:solidFill>
                <a:latin typeface="Aptos"/>
              </a:rPr>
              <a:t>Leads by units sold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871216"/>
            <a:ext cx="2743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0"/>
                </a:solidFill>
                <a:latin typeface="Aptos"/>
              </a:rPr>
              <a:t>Volume leader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298448"/>
            <a:ext cx="352044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1554480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28C28"/>
                </a:solidFill>
                <a:latin typeface="Aptos"/>
              </a:rPr>
              <a:t>TOP REVENUE CATEGORIES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1938528"/>
            <a:ext cx="28346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22632"/>
                </a:solidFill>
                <a:latin typeface="Aptos"/>
              </a:rPr>
              <a:t>1. Beverages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59152"/>
            <a:ext cx="283464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586070"/>
                </a:solidFill>
                <a:latin typeface="Aptos"/>
              </a:rPr>
              <a:t>2. Dairy 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2871216"/>
            <a:ext cx="27432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290"/>
                </a:solidFill>
                <a:latin typeface="Aptos"/>
              </a:rPr>
              <a:t>Category leaders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566160"/>
            <a:ext cx="530352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3566160"/>
            <a:ext cx="64008" cy="1783080"/>
          </a:xfrm>
          <a:prstGeom prst="rect">
            <a:avLst/>
          </a:prstGeom>
          <a:solidFill>
            <a:srgbClr val="2E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712463"/>
            <a:ext cx="495604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22632"/>
                </a:solidFill>
                <a:latin typeface="Aptos"/>
              </a:rPr>
              <a:t>Inventory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069080"/>
            <a:ext cx="4937759" cy="11795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586070"/>
                </a:solidFill>
                <a:latin typeface="Aptos"/>
              </a:rPr>
              <a:t>Compare available stock with recent sales velocity for high-revenue and high-volume products.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 b="0" i="0">
                <a:solidFill>
                  <a:srgbClr val="7A8290"/>
                </a:solidFill>
                <a:latin typeface="Aptos"/>
              </a:rPr>
              <a:t>The current visuals show stock on hand, but do not establish stockout risk by themselves.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3566160"/>
            <a:ext cx="5440680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3566160"/>
            <a:ext cx="64008" cy="17830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712463"/>
            <a:ext cx="5093208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22632"/>
                </a:solidFill>
                <a:latin typeface="Aptos"/>
              </a:rPr>
              <a:t>Discontinued products &amp; pricing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069080"/>
            <a:ext cx="5074920" cy="117957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200" b="0" i="0">
                <a:solidFill>
                  <a:srgbClr val="586070"/>
                </a:solidFill>
                <a:latin typeface="Aptos"/>
              </a:rPr>
              <a:t>Eight products are flagged as discontinued. Check whether customers need suitable replacements.</a:t>
            </a:r>
          </a:p>
          <a:p>
            <a:pPr>
              <a:lnSpc>
                <a:spcPct val="100000"/>
              </a:lnSpc>
              <a:spcAft>
                <a:spcPts val="500"/>
              </a:spcAft>
            </a:pPr>
            <a:r>
              <a:rPr sz="1000" b="0" i="0">
                <a:solidFill>
                  <a:srgbClr val="7A8290"/>
                </a:solidFill>
                <a:latin typeface="Aptos"/>
              </a:rPr>
              <a:t>Revenue alone does not prove profitability; pricing reviews need cost and margin evidence.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715000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B0F2B"/>
                </a:solidFill>
                <a:latin typeface="Aptos"/>
              </a:rPr>
              <a:t>CEO takeaway: protect availability for important lines, but assess product performance using both revenue and quantity sold.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6556248"/>
            <a:ext cx="603504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A8290"/>
                </a:solidFill>
                <a:latin typeface="Aptos"/>
              </a:rPr>
              <a:t>NORTHWIND TRADERS  •  CAPSTONE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537960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A8290"/>
                </a:solidFill>
                <a:latin typeface="Aptos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8C28"/>
                </a:solidFill>
                <a:latin typeface="Aptos"/>
              </a:rPr>
              <a:t>06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4128" y="448056"/>
            <a:ext cx="329184" cy="0"/>
          </a:xfrm>
          <a:prstGeom prst="line">
            <a:avLst/>
          </a:prstGeom>
          <a:ln w="317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481328" y="237744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22632"/>
                </a:solidFill>
                <a:latin typeface="Aptos"/>
              </a:rPr>
              <a:t>Customer &amp; market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99616" y="722376"/>
            <a:ext cx="99669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8290"/>
                </a:solidFill>
                <a:latin typeface="Aptos"/>
              </a:rPr>
              <a:t>The strongest accounts and markets deserve attention, while lower-ranked markets should be assessed before expansion.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6035040" cy="4526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53035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8C28"/>
                </a:solidFill>
                <a:latin typeface="Aptos"/>
              </a:rPr>
              <a:t>TOP CUSTOMER REVENUE</a:t>
            </a:r>
          </a:p>
        </p:txBody>
      </p:sp>
      <p:pic>
        <p:nvPicPr>
          <p:cNvPr id="8" name="Picture 7" descr="customer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65960"/>
            <a:ext cx="5440680" cy="22130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4736592"/>
            <a:ext cx="53492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86070"/>
                </a:solidFill>
                <a:latin typeface="Aptos"/>
              </a:rPr>
              <a:t>Save-a-lot Markets placed the most orders, even though QUICK-Stop generated slightly more revenue.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720" y="1280160"/>
            <a:ext cx="4709160" cy="4526280"/>
          </a:xfrm>
          <a:prstGeom prst="roundRect">
            <a:avLst>
              <a:gd name="adj" fmla="val 8000"/>
            </a:avLst>
          </a:prstGeom>
          <a:solidFill>
            <a:srgbClr val="6B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1572768"/>
            <a:ext cx="4023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8C28"/>
                </a:solidFill>
                <a:latin typeface="Aptos"/>
              </a:rPr>
              <a:t>STRONGEST MARKETS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2148840"/>
            <a:ext cx="502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8C28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130552"/>
            <a:ext cx="16916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USA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167128"/>
            <a:ext cx="1828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9C9CE"/>
                </a:solidFill>
                <a:latin typeface="Aptos"/>
              </a:rPr>
              <a:t>Highest sales revenue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223760" y="2633472"/>
            <a:ext cx="4023360" cy="0"/>
          </a:xfrm>
          <a:prstGeom prst="line">
            <a:avLst/>
          </a:prstGeom>
          <a:ln w="10160">
            <a:solidFill>
              <a:srgbClr val="7D3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223760" y="2898648"/>
            <a:ext cx="502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8C28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880360"/>
            <a:ext cx="16916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Germany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916936"/>
            <a:ext cx="1828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9C9CE"/>
                </a:solidFill>
                <a:latin typeface="Aptos"/>
              </a:rPr>
              <a:t>Second-highest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223760" y="3383280"/>
            <a:ext cx="4023360" cy="0"/>
          </a:xfrm>
          <a:prstGeom prst="line">
            <a:avLst/>
          </a:prstGeom>
          <a:ln w="10160">
            <a:solidFill>
              <a:srgbClr val="7D3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223760" y="3648456"/>
            <a:ext cx="502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8C28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630168"/>
            <a:ext cx="169164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Austria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666744"/>
            <a:ext cx="1828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D9C9CE"/>
                </a:solidFill>
                <a:latin typeface="Aptos"/>
              </a:rPr>
              <a:t>Third-highest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23760" y="4526280"/>
            <a:ext cx="4023360" cy="0"/>
          </a:xfrm>
          <a:prstGeom prst="line">
            <a:avLst/>
          </a:prstGeom>
          <a:ln w="12700">
            <a:solidFill>
              <a:srgbClr val="7D3A4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223760" y="4736592"/>
            <a:ext cx="397763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ptos"/>
              </a:rPr>
              <a:t>93 recorded customers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5102352"/>
            <a:ext cx="38862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1E6E9"/>
                </a:solidFill>
                <a:latin typeface="Aptos"/>
              </a:rPr>
              <a:t>Monitor account revenue, repeat order frequency and average order value—not a single metric alone.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016752"/>
            <a:ext cx="10972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7A8290"/>
                </a:solidFill>
                <a:latin typeface="Aptos"/>
              </a:rPr>
              <a:t>The figures identify leading accounts and markets; they do not by themselves prove retention risk or quantify dependence.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" y="6556248"/>
            <a:ext cx="603504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A8290"/>
                </a:solidFill>
                <a:latin typeface="Aptos"/>
              </a:rPr>
              <a:t>NORTHWIND TRADERS  •  CAPSTONE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37960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A8290"/>
                </a:solidFill>
                <a:latin typeface="Aptos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E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8C28"/>
                </a:solidFill>
                <a:latin typeface="Aptos"/>
              </a:rPr>
              <a:t>07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4128" y="448056"/>
            <a:ext cx="329184" cy="0"/>
          </a:xfrm>
          <a:prstGeom prst="line">
            <a:avLst/>
          </a:prstGeom>
          <a:ln w="317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481328" y="237744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22632"/>
                </a:solidFill>
                <a:latin typeface="Aptos"/>
              </a:rPr>
              <a:t>Employee &amp; operational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99616" y="722376"/>
            <a:ext cx="99669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8290"/>
                </a:solidFill>
                <a:latin typeface="Aptos"/>
              </a:rPr>
              <a:t>Use balanced measures for people and distinguish shipment dispatch timing from actual delivery arrival.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98448"/>
            <a:ext cx="5440680" cy="4498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72768"/>
            <a:ext cx="47548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8C28"/>
                </a:solidFill>
                <a:latin typeface="Aptos"/>
              </a:rPr>
              <a:t>EMPLOYEE-ASSOCIATED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93392"/>
            <a:ext cx="24231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6B0F2B"/>
                </a:solidFill>
                <a:latin typeface="Aptos"/>
              </a:rPr>
              <a:t>Margaret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728"/>
            <a:ext cx="24231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22632"/>
                </a:solidFill>
                <a:latin typeface="Aptos"/>
              </a:rPr>
              <a:t>$250.19K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871216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A8290"/>
                </a:solidFill>
                <a:latin typeface="Aptos"/>
              </a:rPr>
              <a:t>18.47% of total revenue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201168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B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212848"/>
            <a:ext cx="173736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B0F2B"/>
                </a:solidFill>
                <a:latin typeface="Aptos"/>
              </a:rPr>
              <a:t>≈156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596896"/>
            <a:ext cx="1737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86070"/>
                </a:solidFill>
                <a:latin typeface="Aptos"/>
              </a:rPr>
              <a:t>orders handled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429000"/>
            <a:ext cx="4800600" cy="0"/>
          </a:xfrm>
          <a:prstGeom prst="line">
            <a:avLst/>
          </a:prstGeom>
          <a:ln w="12700">
            <a:solidFill>
              <a:srgbClr val="E5D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3657600"/>
            <a:ext cx="19202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8C28"/>
                </a:solidFill>
                <a:latin typeface="Aptos"/>
              </a:rPr>
              <a:t>ROBERT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986784"/>
            <a:ext cx="19202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22632"/>
                </a:solidFill>
                <a:latin typeface="Aptos"/>
              </a:rPr>
              <a:t>≈ $1,950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389120"/>
            <a:ext cx="20116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6070"/>
                </a:solidFill>
                <a:latin typeface="Aptos"/>
              </a:rPr>
              <a:t>Highest average order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657600"/>
            <a:ext cx="2468880" cy="9601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86070"/>
                </a:solidFill>
                <a:latin typeface="Aptos"/>
              </a:rPr>
              <a:t>Revenue alone does not prove productivity. Compare order volume, customer assignments and time period.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298448"/>
            <a:ext cx="5349240" cy="44988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572768"/>
            <a:ext cx="46634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8C28"/>
                </a:solidFill>
                <a:latin typeface="Aptos"/>
              </a:rPr>
              <a:t>SHIPPING STATUS BY REQUIRED DATE</a:t>
            </a:r>
          </a:p>
        </p:txBody>
      </p:sp>
      <p:pic>
        <p:nvPicPr>
          <p:cNvPr id="21" name="Picture 20" descr="shipping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920240"/>
            <a:ext cx="2468880" cy="246888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9006840" y="2185416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E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2130552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22632"/>
                </a:solidFill>
                <a:latin typeface="Aptos"/>
              </a:rPr>
              <a:t>772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7232" y="2148840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70"/>
                </a:solidFill>
                <a:latin typeface="Aptos"/>
              </a:rPr>
              <a:t>On/before required 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2139696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7D68"/>
                </a:solidFill>
                <a:latin typeface="Aptos"/>
              </a:rPr>
              <a:t>93.01%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840" y="2971800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2916936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22632"/>
                </a:solidFill>
                <a:latin typeface="Aptos"/>
              </a:rPr>
              <a:t>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57232" y="2935224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70"/>
                </a:solidFill>
                <a:latin typeface="Aptos"/>
              </a:rPr>
              <a:t>Late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2926080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28C28"/>
                </a:solidFill>
                <a:latin typeface="Aptos"/>
              </a:rPr>
              <a:t>4.46%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3758184"/>
            <a:ext cx="118872" cy="118872"/>
          </a:xfrm>
          <a:prstGeom prst="roundRect">
            <a:avLst>
              <a:gd name="adj" fmla="val 8000"/>
            </a:avLst>
          </a:prstGeom>
          <a:solidFill>
            <a:srgbClr val="6B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3703320"/>
            <a:ext cx="59436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22632"/>
                </a:solidFill>
                <a:latin typeface="Aptos"/>
              </a:rPr>
              <a:t>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57232" y="3721608"/>
            <a:ext cx="1325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70"/>
                </a:solidFill>
                <a:latin typeface="Aptos"/>
              </a:rPr>
              <a:t>No shipped 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3712464"/>
            <a:ext cx="4572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0F2B"/>
                </a:solidFill>
                <a:latin typeface="Aptos"/>
              </a:rPr>
              <a:t>2.53%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37960" y="4828032"/>
            <a:ext cx="4754880" cy="0"/>
          </a:xfrm>
          <a:prstGeom prst="line">
            <a:avLst/>
          </a:prstGeom>
          <a:ln w="12700">
            <a:solidFill>
              <a:srgbClr val="E5D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537960" y="5029200"/>
            <a:ext cx="45720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6070"/>
                </a:solidFill>
                <a:latin typeface="Aptos"/>
              </a:rPr>
              <a:t>Review the 37 late records and 21 missing shipped dates. Compare carriers by freight per order and timeliness—not total freight alone.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016752"/>
            <a:ext cx="1097280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7A8290"/>
                </a:solidFill>
                <a:latin typeface="Aptos"/>
              </a:rPr>
              <a:t>Timing measure compares ShippedDate with RequiredDate; it is not a measure of actual delivery arrival.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" y="6556248"/>
            <a:ext cx="603504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A8290"/>
                </a:solidFill>
                <a:latin typeface="Aptos"/>
              </a:rPr>
              <a:t>NORTHWIND TRADERS  •  CAPSTONE PROJECT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537960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A8290"/>
                </a:solidFill>
                <a:latin typeface="Aptos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8C28"/>
                </a:solidFill>
                <a:latin typeface="Aptos"/>
              </a:rPr>
              <a:t>08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4128" y="448056"/>
            <a:ext cx="329184" cy="0"/>
          </a:xfrm>
          <a:prstGeom prst="line">
            <a:avLst/>
          </a:prstGeom>
          <a:ln w="317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481328" y="237744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22632"/>
                </a:solidFill>
                <a:latin typeface="Aptos"/>
              </a:rPr>
              <a:t>Key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99616" y="722376"/>
            <a:ext cx="99669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8290"/>
                </a:solidFill>
                <a:latin typeface="Aptos"/>
              </a:rPr>
              <a:t>Five evidence-led findings—each links what happened to why it matters.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53492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73152" cy="13258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44168"/>
            <a:ext cx="38404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28C2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1325880"/>
            <a:ext cx="452627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22632"/>
                </a:solidFill>
                <a:latin typeface="Aptos"/>
              </a:rPr>
              <a:t>Sales periods are not directly comparable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1673352"/>
            <a:ext cx="4937759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70"/>
                </a:solidFill>
                <a:latin typeface="Aptos"/>
              </a:rPr>
              <a:t>1997 is the highest annual total (~$660K), but 1996 and 1998 are partial years.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121408"/>
            <a:ext cx="4937759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0F2B"/>
                </a:solidFill>
                <a:latin typeface="Aptos"/>
              </a:rPr>
              <a:t>ACTION  Use equivalent monthly or year-to-date comparisons before forecasting.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34440"/>
            <a:ext cx="53492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234440"/>
            <a:ext cx="73152" cy="1325880"/>
          </a:xfrm>
          <a:prstGeom prst="rect">
            <a:avLst/>
          </a:prstGeom>
          <a:solidFill>
            <a:srgbClr val="6B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344168"/>
            <a:ext cx="38404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0F2B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39712" y="1325880"/>
            <a:ext cx="452627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22632"/>
                </a:solidFill>
                <a:latin typeface="Aptos"/>
              </a:rPr>
              <a:t>Revenue and volume identify different 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673352"/>
            <a:ext cx="4937759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70"/>
                </a:solidFill>
                <a:latin typeface="Aptos"/>
              </a:rPr>
              <a:t>Côte de Blaye leads revenue; Camembert Pierrot leads units sold.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2121408"/>
            <a:ext cx="4937759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0F2B"/>
                </a:solidFill>
                <a:latin typeface="Aptos"/>
              </a:rPr>
              <a:t>ACTION  Monitor both leaders and align stock review to sales velocity.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2770632"/>
            <a:ext cx="53492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2770632"/>
            <a:ext cx="73152" cy="1325880"/>
          </a:xfrm>
          <a:prstGeom prst="rect">
            <a:avLst/>
          </a:prstGeom>
          <a:solidFill>
            <a:srgbClr val="2E7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880360"/>
            <a:ext cx="38404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7D68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2862072"/>
            <a:ext cx="452627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22632"/>
                </a:solidFill>
                <a:latin typeface="Aptos"/>
              </a:rPr>
              <a:t>Customer value differs from order frequency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3209544"/>
            <a:ext cx="4937759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70"/>
                </a:solidFill>
                <a:latin typeface="Aptos"/>
              </a:rPr>
              <a:t>QUICK-Stop leads revenue (~$117.48K); Save-a-lot Markets places more orders.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" y="3657600"/>
            <a:ext cx="4937759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0F2B"/>
                </a:solidFill>
                <a:latin typeface="Aptos"/>
              </a:rPr>
              <a:t>ACTION  Track revenue, repeat frequency and average order value together.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770632"/>
            <a:ext cx="53492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770632"/>
            <a:ext cx="73152" cy="132588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880360"/>
            <a:ext cx="38404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28C28"/>
                </a:solidFill>
                <a:latin typeface="Apto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9712" y="2862072"/>
            <a:ext cx="452627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22632"/>
                </a:solidFill>
                <a:latin typeface="Aptos"/>
              </a:rPr>
              <a:t>Employee results depend on the metric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9088" y="3209544"/>
            <a:ext cx="4937759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70"/>
                </a:solidFill>
                <a:latin typeface="Aptos"/>
              </a:rPr>
              <a:t>Margaret leads employee-associated revenue; Robert has the highest average order value.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9088" y="3657600"/>
            <a:ext cx="4937759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0F2B"/>
                </a:solidFill>
                <a:latin typeface="Aptos"/>
              </a:rPr>
              <a:t>ACTION  Use balanced indicators and account for assignment and workload differences.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01568" y="4334256"/>
            <a:ext cx="534924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01568" y="4334256"/>
            <a:ext cx="73152" cy="1325880"/>
          </a:xfrm>
          <a:prstGeom prst="rect">
            <a:avLst/>
          </a:prstGeom>
          <a:solidFill>
            <a:srgbClr val="6B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84448" y="4443984"/>
            <a:ext cx="384048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0F2B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4425696"/>
            <a:ext cx="4526279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22632"/>
                </a:solidFill>
                <a:latin typeface="Aptos"/>
              </a:rPr>
              <a:t>Shipping is strong but exceptions need 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02736" y="4773168"/>
            <a:ext cx="4937759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86070"/>
                </a:solidFill>
                <a:latin typeface="Aptos"/>
              </a:rPr>
              <a:t>772 orders are on/before required date; 37 are late and 21 lack a shipped date.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02736" y="5221224"/>
            <a:ext cx="4937759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0F2B"/>
                </a:solidFill>
                <a:latin typeface="Aptos"/>
              </a:rPr>
              <a:t>ACTION  Investigate exceptions and compare carrier efficiency per order.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6556248"/>
            <a:ext cx="603504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A8290"/>
                </a:solidFill>
                <a:latin typeface="Aptos"/>
              </a:rPr>
              <a:t>NORTHWIND TRADERS  •  CAPSTONE PROJECT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09960" y="6537960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A8290"/>
                </a:solidFill>
                <a:latin typeface="Aptos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8C28"/>
                </a:solidFill>
                <a:latin typeface="Aptos"/>
              </a:rPr>
              <a:t>09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4128" y="448056"/>
            <a:ext cx="329184" cy="0"/>
          </a:xfrm>
          <a:prstGeom prst="line">
            <a:avLst/>
          </a:prstGeom>
          <a:ln w="317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481328" y="237744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Recommendations to the CEO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99616" y="722376"/>
            <a:ext cx="99669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9C9CE"/>
                </a:solidFill>
                <a:latin typeface="Aptos"/>
              </a:rPr>
              <a:t>A practical sequence of actions, each paired with a way to measure progress.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61872"/>
            <a:ext cx="11018520" cy="768096"/>
          </a:xfrm>
          <a:prstGeom prst="roundRect">
            <a:avLst>
              <a:gd name="adj" fmla="val 8000"/>
            </a:avLst>
          </a:prstGeom>
          <a:solidFill>
            <a:srgbClr val="4C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26463"/>
            <a:ext cx="502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8C28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362456"/>
            <a:ext cx="1600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28C28"/>
                </a:solidFill>
                <a:latin typeface="Aptos"/>
              </a:rPr>
              <a:t>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1362456"/>
            <a:ext cx="3886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Standardize monthly performance reviews.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1371600"/>
            <a:ext cx="4206240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1E6E9"/>
                </a:solidFill>
                <a:latin typeface="Aptos"/>
              </a:rPr>
              <a:t>MEASURE  Revenue, orders and average order value by equivalent periods.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203704"/>
            <a:ext cx="11018520" cy="768096"/>
          </a:xfrm>
          <a:prstGeom prst="roundRect">
            <a:avLst>
              <a:gd name="adj" fmla="val 8000"/>
            </a:avLst>
          </a:prstGeom>
          <a:solidFill>
            <a:srgbClr val="4C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68296"/>
            <a:ext cx="502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C9CE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04288"/>
            <a:ext cx="1600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C9CE"/>
                </a:solidFill>
                <a:latin typeface="Aptos"/>
              </a:rPr>
              <a:t>CUSTOMERS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304288"/>
            <a:ext cx="3886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Protect high-value accounts and monitor changes.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313432"/>
            <a:ext cx="4206240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1E6E9"/>
                </a:solidFill>
                <a:latin typeface="Aptos"/>
              </a:rPr>
              <a:t>MEASURE  Account revenue, repeat order frequency and average order value.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145536"/>
            <a:ext cx="11018520" cy="768096"/>
          </a:xfrm>
          <a:prstGeom prst="roundRect">
            <a:avLst>
              <a:gd name="adj" fmla="val 8000"/>
            </a:avLst>
          </a:prstGeom>
          <a:solidFill>
            <a:srgbClr val="4C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310128"/>
            <a:ext cx="502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E7D6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246120"/>
            <a:ext cx="1600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7D68"/>
                </a:solidFill>
                <a:latin typeface="Aptos"/>
              </a:rPr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246120"/>
            <a:ext cx="3886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Investigate late and missing shipment records.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255264"/>
            <a:ext cx="4206240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1E6E9"/>
                </a:solidFill>
                <a:latin typeface="Aptos"/>
              </a:rPr>
              <a:t>MEASURE  Late/missing counts, on-time proportion and freight per order.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087368"/>
            <a:ext cx="11018520" cy="768096"/>
          </a:xfrm>
          <a:prstGeom prst="roundRect">
            <a:avLst>
              <a:gd name="adj" fmla="val 8000"/>
            </a:avLst>
          </a:prstGeom>
          <a:solidFill>
            <a:srgbClr val="4C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251959"/>
            <a:ext cx="502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8C28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187952"/>
            <a:ext cx="1600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28C28"/>
                </a:solidFill>
                <a:latin typeface="Aptos"/>
              </a:rPr>
              <a:t>PRODUCTS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4187952"/>
            <a:ext cx="3886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Align inventory review with sales velocity.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4197096"/>
            <a:ext cx="4206240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1E6E9"/>
                </a:solidFill>
                <a:latin typeface="Aptos"/>
              </a:rPr>
              <a:t>MEASURE  Stock on hand versus recent units sold; discontinued-item replacements.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029200"/>
            <a:ext cx="11018520" cy="768096"/>
          </a:xfrm>
          <a:prstGeom prst="roundRect">
            <a:avLst>
              <a:gd name="adj" fmla="val 8000"/>
            </a:avLst>
          </a:prstGeom>
          <a:solidFill>
            <a:srgbClr val="4C1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193792"/>
            <a:ext cx="50292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D9C9CE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5129784"/>
            <a:ext cx="1600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C9CE"/>
                </a:solidFill>
                <a:latin typeface="Aptos"/>
              </a:rPr>
              <a:t>WORKFORCE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5129784"/>
            <a:ext cx="3886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Evaluate employee-associated sales fairly.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60" y="5138928"/>
            <a:ext cx="4206240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1E6E9"/>
                </a:solidFill>
                <a:latin typeface="Aptos"/>
              </a:rPr>
              <a:t>MEASURE  Revenue, orders, average order value, customer assignments and time context.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144768"/>
            <a:ext cx="106984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1E6E9"/>
                </a:solidFill>
                <a:latin typeface="Aptos"/>
              </a:rPr>
              <a:t>Start with reporting and operational exceptions; these create a repeatable basis for the other reviews.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6556248"/>
            <a:ext cx="603504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9C9CE"/>
                </a:solidFill>
                <a:latin typeface="Aptos"/>
              </a:rPr>
              <a:t>NORTHWIND TRADERS  •  CAPSTONE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537960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D9C9CE"/>
                </a:solidFill>
                <a:latin typeface="Aptos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50292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8C28"/>
                </a:solidFill>
                <a:latin typeface="Aptos"/>
              </a:rPr>
              <a:t>10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024128" y="448056"/>
            <a:ext cx="329184" cy="0"/>
          </a:xfrm>
          <a:prstGeom prst="line">
            <a:avLst/>
          </a:prstGeom>
          <a:ln w="31750">
            <a:solidFill>
              <a:srgbClr val="F28C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481328" y="237744"/>
            <a:ext cx="1005840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22632"/>
                </a:solidFill>
                <a:latin typeface="Aptos"/>
              </a:rPr>
              <a:t>Conclusion | Turn evidence into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99616" y="722376"/>
            <a:ext cx="99669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7A8290"/>
                </a:solidFill>
                <a:latin typeface="Aptos"/>
              </a:rPr>
              <a:t>Northwind has a strong foundation. The next step is more consistent management visibility.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10972800" cy="1234440"/>
          </a:xfrm>
          <a:prstGeom prst="roundRect">
            <a:avLst>
              <a:gd name="adj" fmla="val 8000"/>
            </a:avLst>
          </a:prstGeom>
          <a:solidFill>
            <a:srgbClr val="6B0F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10287000" cy="5943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Protect core revenue. Improve visibility. Act on exceptions.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880360"/>
            <a:ext cx="3493008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27248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28C28"/>
                </a:solidFill>
                <a:latin typeface="Aptos"/>
              </a:rPr>
              <a:t>PROTECT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56432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2632"/>
                </a:solidFill>
                <a:latin typeface="Aptos"/>
              </a:rPr>
              <a:t>Core customers and leading 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50208"/>
            <a:ext cx="2971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6070"/>
                </a:solidFill>
                <a:latin typeface="Aptos"/>
              </a:rPr>
              <a:t>Monitor key accounts; plan stock around both revenue and volume leaders.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2880360"/>
            <a:ext cx="3493008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3127248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0F2B"/>
                </a:solidFill>
                <a:latin typeface="Aptos"/>
              </a:rPr>
              <a:t>MEASURE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456432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2632"/>
                </a:solidFill>
                <a:latin typeface="Aptos"/>
              </a:rPr>
              <a:t>Comparable performance over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950208"/>
            <a:ext cx="2971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6070"/>
                </a:solidFill>
                <a:latin typeface="Aptos"/>
              </a:rPr>
              <a:t>Review monthly revenue, orders and average order value on like-for-like periods.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5864" y="2880360"/>
            <a:ext cx="3493008" cy="16642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4" y="3127248"/>
            <a:ext cx="2971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7D68"/>
                </a:solidFill>
                <a:latin typeface="Aptos"/>
              </a:rPr>
              <a:t>IMPROVE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4" y="3456432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2632"/>
                </a:solidFill>
                <a:latin typeface="Aptos"/>
              </a:rPr>
              <a:t>Shipping reliability and cost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950208"/>
            <a:ext cx="29718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86070"/>
                </a:solidFill>
                <a:latin typeface="Aptos"/>
              </a:rPr>
              <a:t>Investigate late/missing records and compare carriers on a per-order basis.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89204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BE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084064"/>
            <a:ext cx="18288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B0F2B"/>
                </a:solidFill>
                <a:latin typeface="Aptos"/>
              </a:rPr>
              <a:t>PROPOSED NEXT STEP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038344"/>
            <a:ext cx="8321040" cy="3931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22632"/>
                </a:solidFill>
                <a:latin typeface="Aptos"/>
              </a:rPr>
              <a:t>Establish a monthly KPI review, a top-account review and a shipping-exception audit.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989320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7A8290"/>
                </a:solidFill>
                <a:latin typeface="Aptos"/>
              </a:rPr>
              <a:t>Expected value: better-informed decisions, clearer accountability and earlier visibility of business risks.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" y="6556248"/>
            <a:ext cx="603504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A8290"/>
                </a:solidFill>
                <a:latin typeface="Aptos"/>
              </a:rPr>
              <a:t>NORTHWIND TRADERS  •  CAPSTONE PROJECT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537960"/>
            <a:ext cx="594360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7A8290"/>
                </a:solidFill>
                <a:latin typeface="Aptos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Northwind Business Performance Analysis</dc:title>
  <dc:subject>Techie Academy Capstone Project — CEO Presentation</dc:subject>
  <dc:creator>Yekini Abdulroqeeb Ademola</dc:creator>
  <cp:keywords>Northwind, Power BI, Business Analysis, Sales, CEO Presentation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